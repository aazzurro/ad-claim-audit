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F3A5F"/>
                </a:solidFill>
                <a:latin typeface="PingFang SC"/>
              </a:rPr>
              <a:t>短视频广告虚假宣传话术检测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926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2A6F6F"/>
                </a:solidFill>
                <a:latin typeface="PingFang SC"/>
              </a:rPr>
              <a:t>实践项目（三）　答辩材料　共用稿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3035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55555"/>
                </a:solidFill>
                <a:latin typeface="PingFang SC"/>
              </a:rPr>
              <a:t>作者：【待填】　　2026-09-05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3A5F"/>
                </a:solidFill>
                <a:latin typeface="PingFang SC"/>
              </a:rPr>
              <a:t>任务与目标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PingFang SC"/>
              </a:rPr>
              <a:t/>
            </a:r>
          </a:p>
          <a:p/>
          <a:p>
            <a:pPr algn="l"/>
            <a:r>
              <a:rPr sz="2000">
                <a:solidFill>
                  <a:srgbClr val="222222"/>
                </a:solidFill>
                <a:latin typeface="PingFang SC"/>
              </a:rPr>
              <a:t>输入：约30秒直播/短视频广告切片（本包237条，整包作测试集）</a:t>
            </a:r>
          </a:p>
          <a:p>
            <a:pPr algn="l"/>
            <a:r>
              <a:rPr sz="2000">
                <a:solidFill>
                  <a:srgbClr val="222222"/>
                </a:solidFill>
                <a:latin typeface="PingFang SC"/>
              </a:rPr>
              <a:t>过程：抽音抽帧 → ASR/OCR → 规则/LM分类 → 证据与法条 → 评测 → Demo</a:t>
            </a:r>
          </a:p>
          <a:p>
            <a:pPr algn="l"/>
            <a:r>
              <a:rPr sz="2000">
                <a:solidFill>
                  <a:srgbClr val="222222"/>
                </a:solidFill>
                <a:latin typeface="PingFang SC"/>
              </a:rPr>
              <a:t>输出：风险标签、原文证据、时间戳/位置、规则依据、解释</a:t>
            </a:r>
          </a:p>
          <a:p>
            <a:pPr algn="l"/>
            <a:r>
              <a:rPr sz="2000">
                <a:solidFill>
                  <a:srgbClr val="222222"/>
                </a:solidFill>
                <a:latin typeface="PingFang SC"/>
              </a:rPr>
              <a:t>约束：小规模LM（Qwen2.5-7B）；词表与少样本不得使用测试视频原句</a:t>
            </a:r>
          </a:p>
          <a:p>
            <a:pPr algn="l"/>
            <a:r>
              <a:rPr sz="2000">
                <a:solidFill>
                  <a:srgbClr val="222222"/>
                </a:solidFill>
                <a:latin typeface="PingFang SC"/>
              </a:rPr>
              <a:t>标签：正常 / 夸大功效 / 虚假收益 / 诱导消费 / 站外导流 / 其他线索 / 无法判断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3A5F"/>
                </a:solidFill>
                <a:latin typeface="PingFang SC"/>
              </a:rPr>
              <a:t>样本与金标准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PingFang SC"/>
              </a:rPr>
              <a:t/>
            </a:r>
          </a:p>
          <a:p/>
          <a:p>
            <a:pPr algn="l"/>
            <a:r>
              <a:rPr sz="2000">
                <a:solidFill>
                  <a:srgbClr val="222222"/>
                </a:solidFill>
                <a:latin typeface="PingFang SC"/>
              </a:rPr>
              <a:t>237条，时长均值32.5秒；化妆品80、厨卫电器46、保健食品23</a:t>
            </a:r>
          </a:p>
          <a:p>
            <a:pPr algn="l"/>
            <a:r>
              <a:rPr sz="2000">
                <a:solidFill>
                  <a:srgbClr val="222222"/>
                </a:solidFill>
                <a:latin typeface="PingFang SC"/>
              </a:rPr>
              <a:t>夸大功效195，诱导消费27，正常32，多标签20</a:t>
            </a:r>
          </a:p>
          <a:p>
            <a:pPr algn="l"/>
            <a:r>
              <a:rPr sz="2000">
                <a:solidFill>
                  <a:srgbClr val="222222"/>
                </a:solidFill>
                <a:latin typeface="PingFang SC"/>
              </a:rPr>
              <a:t>收益承诺、其他线索、无法判断各1条；站外导流支持为0</a:t>
            </a:r>
          </a:p>
          <a:p>
            <a:pPr algn="l"/>
            <a:r>
              <a:rPr sz="2000">
                <a:solidFill>
                  <a:srgbClr val="222222"/>
                </a:solidFill>
                <a:latin typeface="PingFang SC"/>
              </a:rPr>
              <a:t>判断只看本条可见可听内容，不推测商品是否真有效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3A5F"/>
                </a:solidFill>
                <a:latin typeface="PingFang SC"/>
              </a:rPr>
              <a:t>ASR / OCR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PingFang SC"/>
              </a:rPr>
              <a:t/>
            </a:r>
          </a:p>
          <a:p/>
          <a:p>
            <a:pPr algn="l"/>
            <a:r>
              <a:rPr sz="2000">
                <a:solidFill>
                  <a:srgbClr val="222222"/>
                </a:solidFill>
                <a:latin typeface="PingFang SC"/>
              </a:rPr>
              <a:t>ASR：FunASR SenseVoiceSmall，带时间戳，237/237成功</a:t>
            </a:r>
          </a:p>
          <a:p>
            <a:pPr algn="l"/>
            <a:r>
              <a:rPr sz="2000">
                <a:solidFill>
                  <a:srgbClr val="222222"/>
                </a:solidFill>
                <a:latin typeface="PingFang SC"/>
              </a:rPr>
              <a:t>OCR：每3秒抽帧 + 画面变化去重，PP-OCRv6 small</a:t>
            </a:r>
          </a:p>
          <a:p>
            <a:pPr algn="l"/>
            <a:r>
              <a:rPr sz="2000">
                <a:solidFill>
                  <a:srgbClr val="222222"/>
                </a:solidFill>
                <a:latin typeface="PingFang SC"/>
              </a:rPr>
              <a:t>清洗：去公屏/控件，保留商品卡与卖点叠字</a:t>
            </a:r>
          </a:p>
          <a:p>
            <a:pPr algn="l"/>
            <a:r>
              <a:rPr sz="2000">
                <a:solidFill>
                  <a:srgbClr val="222222"/>
                </a:solidFill>
                <a:latin typeface="PingFang SC"/>
              </a:rPr>
              <a:t>关键观察：最低价、天花板、首个，经常只出现在画面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3A5F"/>
                </a:solidFill>
                <a:latin typeface="PingFang SC"/>
              </a:rPr>
              <a:t>E1 规则基线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PingFang SC"/>
              </a:rPr>
              <a:t/>
            </a:r>
          </a:p>
          <a:p/>
          <a:p>
            <a:pPr algn="l"/>
            <a:r>
              <a:rPr sz="2000">
                <a:solidFill>
                  <a:srgbClr val="222222"/>
                </a:solidFill>
                <a:latin typeface="PingFang SC"/>
              </a:rPr>
              <a:t>词表只来自任务书与《广告法》《直播电商监督管理办法》</a:t>
            </a:r>
          </a:p>
          <a:p>
            <a:pPr algn="l"/>
            <a:r>
              <a:rPr sz="2000">
                <a:solidFill>
                  <a:srgbClr val="222222"/>
                </a:solidFill>
                <a:latin typeface="PingFang SC"/>
              </a:rPr>
              <a:t>micro P/R/F1 = 0.948 / 0.246 / 0.390，完全匹配72/237</a:t>
            </a:r>
          </a:p>
          <a:p>
            <a:pPr algn="l"/>
            <a:r>
              <a:rPr sz="2000">
                <a:solidFill>
                  <a:srgbClr val="222222"/>
                </a:solidFill>
                <a:latin typeface="PingFang SC"/>
              </a:rPr>
              <a:t>诱导消费稳（F1 0.773），夸大功效召回低（F1 0.322）</a:t>
            </a:r>
          </a:p>
          <a:p>
            <a:pPr algn="l"/>
            <a:r>
              <a:rPr sz="2000">
                <a:solidFill>
                  <a:srgbClr val="222222"/>
                </a:solidFill>
                <a:latin typeface="PingFang SC"/>
              </a:rPr>
              <a:t>有条件描述附近命中改为无法判断；无命中≠人工认定安全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3A5F"/>
                </a:solidFill>
                <a:latin typeface="PingFang SC"/>
              </a:rPr>
              <a:t>E2 少样本分类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PingFang SC"/>
              </a:rPr>
              <a:t/>
            </a:r>
          </a:p>
          <a:p/>
          <a:p>
            <a:pPr algn="l"/>
            <a:r>
              <a:rPr sz="2000">
                <a:solidFill>
                  <a:srgbClr val="222222"/>
                </a:solidFill>
                <a:latin typeface="PingFang SC"/>
              </a:rPr>
              <a:t>本机 Ollama Qwen2.5-7B；8组少样本均来自任务书/法规</a:t>
            </a:r>
          </a:p>
          <a:p>
            <a:pPr algn="l"/>
            <a:r>
              <a:rPr sz="2000">
                <a:solidFill>
                  <a:srgbClr val="222222"/>
                </a:solidFill>
                <a:latin typeface="PingFang SC"/>
              </a:rPr>
              <a:t>后处理：证据必须是原文子串，否则丢标签</a:t>
            </a:r>
          </a:p>
          <a:p>
            <a:pPr algn="l"/>
            <a:r>
              <a:rPr sz="2000">
                <a:solidFill>
                  <a:srgbClr val="222222"/>
                </a:solidFill>
                <a:latin typeface="PingFang SC"/>
              </a:rPr>
              <a:t>micro P/R/F1 = 0.880 / 0.362 / 0.513，完全匹配89/237</a:t>
            </a:r>
          </a:p>
          <a:p>
            <a:pPr algn="l"/>
            <a:r>
              <a:rPr sz="2000">
                <a:solidFill>
                  <a:srgbClr val="222222"/>
                </a:solidFill>
                <a:latin typeface="PingFang SC"/>
              </a:rPr>
              <a:t>能抓“老10倍”“14天改善”；常把“最低价”放过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3A5F"/>
                </a:solidFill>
                <a:latin typeface="PingFang SC"/>
              </a:rPr>
              <a:t>E3 简单改进：规则 ∪ 模型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PingFang SC"/>
              </a:rPr>
              <a:t/>
            </a:r>
          </a:p>
          <a:p/>
          <a:p>
            <a:pPr algn="l"/>
            <a:r>
              <a:rPr sz="2000">
                <a:solidFill>
                  <a:srgbClr val="222222"/>
                </a:solidFill>
                <a:latin typeface="PingFang SC"/>
              </a:rPr>
              <a:t>不改词表、不改提示词、不重跑LLM，只融合已有预测</a:t>
            </a:r>
          </a:p>
          <a:p>
            <a:pPr algn="l"/>
            <a:r>
              <a:rPr sz="2000">
                <a:solidFill>
                  <a:srgbClr val="222222"/>
                </a:solidFill>
                <a:latin typeface="PingFang SC"/>
              </a:rPr>
              <a:t>micro F1：0.390 → 0.513 → 0.612</a:t>
            </a:r>
          </a:p>
          <a:p>
            <a:pPr algn="l"/>
            <a:r>
              <a:rPr sz="2000">
                <a:solidFill>
                  <a:srgbClr val="222222"/>
                </a:solidFill>
                <a:latin typeface="PingFang SC"/>
              </a:rPr>
              <a:t>诱导消费 F1：0.773 / 0.619 → 0.885（召回0.852）</a:t>
            </a:r>
          </a:p>
          <a:p>
            <a:pPr algn="l"/>
            <a:r>
              <a:rPr sz="2000">
                <a:solidFill>
                  <a:srgbClr val="222222"/>
                </a:solidFill>
                <a:latin typeface="PingFang SC"/>
              </a:rPr>
              <a:t>夸大功效 F1：0.322 / 0.495 → 0.561；完全匹配106/237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3A5F"/>
                </a:solidFill>
                <a:latin typeface="PingFang SC"/>
              </a:rPr>
              <a:t>人工复核（24条）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PingFang SC"/>
              </a:rPr>
              <a:t/>
            </a:r>
          </a:p>
          <a:p/>
          <a:p>
            <a:pPr algn="l"/>
            <a:r>
              <a:rPr sz="2000">
                <a:solidFill>
                  <a:srgbClr val="222222"/>
                </a:solidFill>
                <a:latin typeface="PingFang SC"/>
              </a:rPr>
              <a:t>分层：稀有标签、互补、漏检、误检、正负例</a:t>
            </a:r>
          </a:p>
          <a:p>
            <a:pPr algn="l"/>
            <a:r>
              <a:rPr sz="2000">
                <a:solidFill>
                  <a:srgbClr val="222222"/>
                </a:solidFill>
                <a:latin typeface="PingFang SC"/>
              </a:rPr>
              <a:t>E1、E2各有16条需要修改，但错因不同</a:t>
            </a:r>
          </a:p>
          <a:p>
            <a:pPr algn="l"/>
            <a:r>
              <a:rPr sz="2000">
                <a:solidFill>
                  <a:srgbClr val="222222"/>
                </a:solidFill>
                <a:latin typeface="PingFang SC"/>
              </a:rPr>
              <a:t>典型：10/20互补；162证据错；192收益承诺双边漏</a:t>
            </a:r>
          </a:p>
          <a:p>
            <a:pPr algn="l"/>
            <a:r>
              <a:rPr sz="2000">
                <a:solidFill>
                  <a:srgbClr val="222222"/>
                </a:solidFill>
                <a:latin typeface="PingFang SC"/>
              </a:rPr>
              <a:t>208预算天花板误伤；94倒计时催拍无关键词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3A5F"/>
                </a:solidFill>
                <a:latin typeface="PingFang SC"/>
              </a:rPr>
              <a:t>案例：互补与证据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PingFang SC"/>
              </a:rPr>
              <a:t/>
            </a:r>
          </a:p>
          <a:p/>
          <a:p>
            <a:pPr algn="l"/>
            <a:r>
              <a:rPr sz="2000">
                <a:solidFill>
                  <a:srgbClr val="222222"/>
                </a:solidFill>
                <a:latin typeface="PingFang SC"/>
              </a:rPr>
              <a:t>10：E1打中天花板，E2打中“活动就一天”，并集才完整</a:t>
            </a:r>
          </a:p>
          <a:p>
            <a:pPr algn="l"/>
            <a:r>
              <a:rPr sz="2000">
                <a:solidFill>
                  <a:srgbClr val="222222"/>
                </a:solidFill>
                <a:latin typeface="PingFang SC"/>
              </a:rPr>
              <a:t>162：应引“治疗骨关节炎”，模型却取“可达0.4”</a:t>
            </a:r>
          </a:p>
          <a:p>
            <a:pPr algn="l"/>
            <a:r>
              <a:rPr sz="2000">
                <a:solidFill>
                  <a:srgbClr val="222222"/>
                </a:solidFill>
                <a:latin typeface="PingFang SC"/>
              </a:rPr>
              <a:t>192：画面有“只谈收益/国内首个”，词表与模型都漏</a:t>
            </a:r>
          </a:p>
          <a:p>
            <a:pPr algn="l"/>
            <a:r>
              <a:rPr sz="2000">
                <a:solidFill>
                  <a:srgbClr val="222222"/>
                </a:solidFill>
                <a:latin typeface="PingFang SC"/>
              </a:rPr>
              <a:t>1：导向口播+最高领取，正确标正常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3A5F"/>
                </a:solidFill>
                <a:latin typeface="PingFang SC"/>
              </a:rPr>
              <a:t>Demo「审言」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PingFang SC"/>
              </a:rPr>
              <a:t/>
            </a:r>
          </a:p>
          <a:p/>
          <a:p>
            <a:pPr algn="l"/>
            <a:r>
              <a:rPr sz="2000">
                <a:solidFill>
                  <a:srgbClr val="222222"/>
                </a:solidFill>
                <a:latin typeface="PingFang SC"/>
              </a:rPr>
              <a:t>python -m src.app  →  http://127.0.0.1:7860</a:t>
            </a:r>
          </a:p>
          <a:p>
            <a:pPr algn="l"/>
            <a:r>
              <a:rPr sz="2000">
                <a:solidFill>
                  <a:srgbClr val="222222"/>
                </a:solidFill>
                <a:latin typeface="PingFang SC"/>
              </a:rPr>
              <a:t>上传视频或从测试集选择；三种模式可切换</a:t>
            </a:r>
          </a:p>
          <a:p>
            <a:pPr algn="l"/>
            <a:r>
              <a:rPr sz="2000">
                <a:solidFill>
                  <a:srgbClr val="222222"/>
                </a:solidFill>
                <a:latin typeface="PingFang SC"/>
              </a:rPr>
              <a:t>展示口播、OCR、标签、证据、时间戳、法条、解释</a:t>
            </a:r>
          </a:p>
          <a:p>
            <a:pPr algn="l"/>
            <a:r>
              <a:rPr sz="2000">
                <a:solidFill>
                  <a:srgbClr val="222222"/>
                </a:solidFill>
                <a:latin typeface="PingFang SC"/>
              </a:rPr>
              <a:t>无登录、无爬取、无自动处罚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3A5F"/>
                </a:solidFill>
                <a:latin typeface="PingFang SC"/>
              </a:rPr>
              <a:t>结论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PingFang SC"/>
              </a:rPr>
              <a:t/>
            </a:r>
          </a:p>
          <a:p/>
          <a:p>
            <a:pPr algn="l"/>
            <a:r>
              <a:rPr sz="2000">
                <a:solidFill>
                  <a:srgbClr val="222222"/>
                </a:solidFill>
                <a:latin typeface="PingFang SC"/>
              </a:rPr>
              <a:t>画面叠字与口播必须一起审</a:t>
            </a:r>
          </a:p>
          <a:p>
            <a:pPr algn="l"/>
            <a:r>
              <a:rPr sz="2000">
                <a:solidFill>
                  <a:srgbClr val="222222"/>
                </a:solidFill>
                <a:latin typeface="PingFang SC"/>
              </a:rPr>
              <a:t>规则保精确和可解释，模型补词表外断言</a:t>
            </a:r>
          </a:p>
          <a:p>
            <a:pPr algn="l"/>
            <a:r>
              <a:rPr sz="2000">
                <a:solidFill>
                  <a:srgbClr val="222222"/>
                </a:solidFill>
                <a:latin typeface="PingFang SC"/>
              </a:rPr>
              <a:t>纪律内的并集是有效的一次改进</a:t>
            </a:r>
          </a:p>
          <a:p>
            <a:pPr algn="l"/>
            <a:r>
              <a:rPr sz="2000">
                <a:solidFill>
                  <a:srgbClr val="222222"/>
                </a:solidFill>
                <a:latin typeface="PingFang SC"/>
              </a:rPr>
              <a:t>证据质量与标签同等重要；稀有类要靠复核说话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945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1F3A5F"/>
                </a:solidFill>
                <a:latin typeface="PingFang SC"/>
              </a:rPr>
              <a:t>谢谢。欢迎提问。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291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555555"/>
                </a:solidFill>
                <a:latin typeface="PingFang SC"/>
              </a:rPr>
              <a:t>姓名处请改为组员名单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